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TECHTATORS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7200" y="91440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Movie Collaboration</a:t>
            </a:r>
            <a:b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Analysis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7200" y="32918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Which director–actor networks drive the greatest commercial success?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BD &amp; BI Capstone  ·  Final Presentation  ·  SRH University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57200" y="5715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Manohar  ·  Rauf  ·  Maziyar  ·  Manaf  ·  Aakash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57200" y="1143000"/>
            <a:ext cx="594360" cy="7315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57200" y="125272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143000" y="1143000"/>
            <a:ext cx="9692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61872" y="1216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Question + Dataset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261872" y="15544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Manohar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01200" y="134416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57200" y="2130552"/>
            <a:ext cx="594360" cy="73152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57200" y="224028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1143000" y="2130552"/>
            <a:ext cx="9692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261872" y="220370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Neo4j Graph Database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61872" y="25420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Rauf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01200" y="23317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457200" y="3118104"/>
            <a:ext cx="59436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57200" y="3227832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143000" y="3118104"/>
            <a:ext cx="9692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261872" y="319125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Machine Learning + GDS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61872" y="352958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Maziyar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01200" y="3319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457200" y="4105656"/>
            <a:ext cx="59436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457200" y="4215384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1143000" y="4105656"/>
            <a:ext cx="9692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261872" y="417880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Qdrant Semantic Search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261872" y="451713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Manaf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601200" y="430682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457200" y="5093208"/>
            <a:ext cx="59436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57200" y="5202936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1143000" y="5093208"/>
            <a:ext cx="9692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261872" y="5166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 Dashboard Demo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261872" y="5504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Aakash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601200" y="529437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Business Question + Dataset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515600" y="2560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Manohar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457200" y="1143000"/>
            <a:ext cx="112471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85800" y="123444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"Which collaboration networks between actors and directors have</a:t>
            </a:r>
            <a:b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greatest impact on the commercial success of films?"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457200" y="2606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548640" y="26517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1M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Raw rows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383280" y="2606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3474720" y="2651760"/>
            <a:ext cx="246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3,1</a:t>
            </a:r>
            <a:r>
              <a:rPr b="1" lang="en-US" sz="3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474720" y="32461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Clean movies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6309360" y="2606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6400800" y="26517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1990–2024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400800" y="32461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9235440" y="2606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326880" y="26517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326880" y="32461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Null values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457200" y="3977639"/>
            <a:ext cx="5394960" cy="36576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548640" y="400507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Columns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457200" y="4370832"/>
            <a:ext cx="53949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594360" y="439826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title, release_year, runtime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457200" y="4718304"/>
            <a:ext cx="5394960" cy="32004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594360" y="474573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budget, revenue, roi</a:t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457200" y="5065776"/>
            <a:ext cx="53949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594360" y="5093207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imdb_rating, director, actor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457200" y="5413248"/>
            <a:ext cx="5394960" cy="32004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594360" y="5440679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genres_list, production_countries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6309360" y="3977639"/>
            <a:ext cx="5394960" cy="36576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6400800" y="400507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Unstructured Text ✦ (for Qdrant)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309360" y="4370832"/>
            <a:ext cx="53949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6446520" y="439826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overview — full plot summary (avg 272 chars)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6309360" y="4718304"/>
            <a:ext cx="5394960" cy="320040"/>
          </a:xfrm>
          <a:prstGeom prst="rect">
            <a:avLst/>
          </a:prstGeom>
          <a:solidFill>
            <a:srgbClr val="FFEE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6446520" y="474573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tagline — marketing text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6309360" y="5065776"/>
            <a:ext cx="53949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6446520" y="5093207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Embedded with all-MiniLM-L6-v2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309360" y="5413248"/>
            <a:ext cx="5394960" cy="320040"/>
          </a:xfrm>
          <a:prstGeom prst="rect">
            <a:avLst/>
          </a:prstGeom>
          <a:solidFill>
            <a:srgbClr val="FFEE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446520" y="5440679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384-dim vectors → Qdrant cosine search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Neo4j Graph Database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0515600" y="2560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Rauf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457200" y="1143000"/>
            <a:ext cx="530352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594360" y="117043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2011680" y="117043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383280" y="117043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Properties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457200" y="1554480"/>
            <a:ext cx="530352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594360" y="160934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Movie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2011680" y="160934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3,114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3383280" y="16093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title, revenue, roi, overview ✦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457200" y="1938528"/>
            <a:ext cx="530352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594360" y="199339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Director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2011680" y="199339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1,400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3383280" y="199339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name, pagerank, community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457200" y="2322576"/>
            <a:ext cx="530352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594360" y="23774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Actor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2011680" y="23774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1,243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3383280" y="23774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457200" y="2706624"/>
            <a:ext cx="530352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594360" y="27614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2011680" y="27614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991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3383280" y="276148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6309360" y="1143000"/>
            <a:ext cx="5486400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6446520" y="11704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9235440" y="117043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6309360" y="1554480"/>
            <a:ext cx="548640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6446520" y="160934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DIRECTED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9235440" y="1609344"/>
            <a:ext cx="109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3,1</a:t>
            </a:r>
            <a:r>
              <a:rPr lang="en-US" sz="1100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100">
              <a:solidFill>
                <a:srgbClr val="E945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945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309360" y="1938528"/>
            <a:ext cx="548640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6446520" y="199339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ACTED_IN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235440" y="199339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3,137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6309360" y="2322576"/>
            <a:ext cx="548640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6446520" y="237744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BELONGS_TO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9235440" y="23774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3,144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6309360" y="2706624"/>
            <a:ext cx="548640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6446520" y="276148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COLLABORATED_WITH ⭐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9235440" y="27614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3,059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457200" y="3337560"/>
            <a:ext cx="1124712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640080" y="336499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— With vs Without Collaboration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457200" y="3730752"/>
            <a:ext cx="438912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548640" y="3749039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Collaboration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5029200" y="3730752"/>
            <a:ext cx="164592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5120640" y="3749039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Films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6858000" y="3730752"/>
            <a:ext cx="192024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6949440" y="374903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8961120" y="3730752"/>
            <a:ext cx="292608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9052560" y="374903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457200" y="4078224"/>
            <a:ext cx="438912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548640" y="4133087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Russo Brothers + Joe Russo</a:t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5029200" y="4078224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5120640" y="413308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films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6858000" y="4078224"/>
            <a:ext cx="192024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6949440" y="4133087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$5.57B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8961120" y="4078224"/>
            <a:ext cx="292608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9052560" y="4133087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530% ROI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457200" y="4462272"/>
            <a:ext cx="438912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548640" y="4517136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Christopher Nolan + Christian Bale</a:t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5029200" y="4462272"/>
            <a:ext cx="164592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5120640" y="45171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films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6858000" y="4462272"/>
            <a:ext cx="192024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6949440" y="45171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$3.67B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8961120" y="4462272"/>
            <a:ext cx="292608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052560" y="451713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358% ROI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457200" y="4846320"/>
            <a:ext cx="438912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548640" y="4901183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Peter Jackson + Elijah Wood</a:t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5029200" y="4846320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5120640" y="4901183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films</a:t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6858000" y="4846320"/>
            <a:ext cx="192024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6949440" y="4901183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$2.91B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8961120" y="4846320"/>
            <a:ext cx="292608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9052560" y="4901183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999% ROI ⭐</a:t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457200" y="5230368"/>
            <a:ext cx="438912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548640" y="5285231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Michel Hazanavicius + Jean Dujardin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5029200" y="5230368"/>
            <a:ext cx="164592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5120640" y="5285231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films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6858000" y="5230368"/>
            <a:ext cx="192024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6949440" y="5285231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$81M</a:t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8961120" y="5230368"/>
            <a:ext cx="292608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9052560" y="5285231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22,325% ROI 🏆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Machine Learning + Graph Analytics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10058400" y="25603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Maziyar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457200" y="1143000"/>
            <a:ext cx="201168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548640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Degree Features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2468880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2788920" y="1143000"/>
            <a:ext cx="2011680" cy="9144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2880360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DuckDB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Tabular Features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4800600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5120640" y="1143000"/>
            <a:ext cx="201168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5212079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Matrix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Label (ROI&gt;200%)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7132320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7452359" y="1143000"/>
            <a:ext cx="2011680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7543799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9464039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9784080" y="1143000"/>
            <a:ext cx="2011680" cy="9144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9875519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457200" y="2286000"/>
            <a:ext cx="5394960" cy="36576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594360" y="231343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Model — S5 (Degree Features Only)</a:t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457200" y="2679192"/>
            <a:ext cx="539496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594360" y="27340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4114800" y="273405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81%</a:t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457200" y="3063240"/>
            <a:ext cx="539496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594360" y="31181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ROI Precision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4114800" y="311810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457200" y="3447288"/>
            <a:ext cx="539496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594360" y="35021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ROI Recall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4114800" y="35021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457200" y="3831336"/>
            <a:ext cx="539496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594360" y="38862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 Macro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4114800" y="38862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0.77</a:t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6309360" y="2286000"/>
            <a:ext cx="5394960" cy="36576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6446520" y="231343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Enriched Model — S6 (+PageRank +Community)</a:t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6309360" y="2679192"/>
            <a:ext cx="539496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6446520" y="27340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9875520" y="273405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75%  ▼</a:t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6309360" y="3063240"/>
            <a:ext cx="539496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6446520" y="31181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ROI Precision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9875520" y="311810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100%  →</a:t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6309360" y="3447288"/>
            <a:ext cx="5394960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6446520" y="35021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ROI Recall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9875520" y="35021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33%  ▼</a:t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6309360" y="3831336"/>
            <a:ext cx="5394960" cy="356616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6446520" y="38862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 Macro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9875520" y="38862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0.67  ▼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solidFill>
            <a:srgbClr val="0A0F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685800" y="4389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685800" y="473659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collaboration history — how many times a director and actor worked together and their shared revenue — is more predictive of high ROI than global graph centrality (PageRank, community). The baseline model with 100% High ROI precision remains the recommended production model.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Qdrant Semantic Search + Embeddings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10515600" y="2560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Manaf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457200" y="1143000"/>
            <a:ext cx="2560320" cy="10058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548640" y="135331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Field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Movie.overview</a:t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3017520" y="150876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3383280" y="1143000"/>
            <a:ext cx="2560320" cy="100584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3474720" y="135331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all-MiniLM-L6-v2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5943600" y="150876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309360" y="1143000"/>
            <a:ext cx="256032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6400800" y="135331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384-dim vectors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8869680" y="150876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6" name="Google Shape;326;p18"/>
          <p:cNvSpPr/>
          <p:nvPr/>
        </p:nvSpPr>
        <p:spPr>
          <a:xfrm>
            <a:off x="9235440" y="1143000"/>
            <a:ext cx="256032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9326880" y="135331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+ A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 + Augment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457200" y="237744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548640" y="2423160"/>
            <a:ext cx="23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3,1</a:t>
            </a:r>
            <a:r>
              <a:rPr b="1" lang="en-US" sz="3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548640" y="2926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Movies embedded</a:t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3383280" y="237744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3474720" y="242316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384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3474720" y="2926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Vector dimensions</a:t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6309360" y="237744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6400800" y="242316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6400800" y="2926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Distance metric</a:t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9235440" y="237744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9326880" y="242316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9326880" y="2926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Similarity queries</a:t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457200" y="3611880"/>
            <a:ext cx="1124712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640080" y="363931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Similarity Queries</a:t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457200" y="3986784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457200" y="3986784"/>
            <a:ext cx="1005840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475488" y="4187952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1</a:t>
            </a:r>
            <a:endParaRPr/>
          </a:p>
        </p:txBody>
      </p:sp>
      <p:sp>
        <p:nvSpPr>
          <p:cNvPr id="345" name="Google Shape;345;p18"/>
          <p:cNvSpPr txBox="1"/>
          <p:nvPr/>
        </p:nvSpPr>
        <p:spPr>
          <a:xfrm>
            <a:off x="1554480" y="40416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"two strangers stranded in space must trust each other to survive"</a:t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1554480" y="4389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The Mountain Between Us (Score: 0.60) · Escape Room · Project Gemini</a:t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457200" y="4882896"/>
            <a:ext cx="11247120" cy="82296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457200" y="4882896"/>
            <a:ext cx="1005840" cy="82296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475488" y="5084064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2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1554480" y="4937759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"superhero action adventure saving the world"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1554480" y="528523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Justice League: War · Thor · Godzilla vs Kong · Street Fighter</a:t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457200" y="5779008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457200" y="5779008"/>
            <a:ext cx="1005840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475488" y="5980176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3</a:t>
            </a:r>
            <a:endParaRPr/>
          </a:p>
        </p:txBody>
      </p:sp>
      <p:sp>
        <p:nvSpPr>
          <p:cNvPr id="355" name="Google Shape;355;p18"/>
          <p:cNvSpPr txBox="1"/>
          <p:nvPr/>
        </p:nvSpPr>
        <p:spPr>
          <a:xfrm>
            <a:off x="1554480" y="58338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"science fiction space adventure (filtered: ROI ≥ 200%)"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1554480" y="618134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Gravity 588% ROI · Skyline 569% ROI · Oculus 789% ROI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Live Dashboard — Streamlit + Docker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10515600" y="2560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Aakash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457200" y="1143000"/>
            <a:ext cx="256032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 txBox="1"/>
          <p:nvPr/>
        </p:nvSpPr>
        <p:spPr>
          <a:xfrm>
            <a:off x="548640" y="13533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(Local)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3383280" y="1143000"/>
            <a:ext cx="2560320" cy="9144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3474720" y="13533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(Docker)</a:t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6309360" y="1143000"/>
            <a:ext cx="256032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6400800" y="13533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 Data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(Parquet)</a:t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9235440" y="1143000"/>
            <a:ext cx="2560320" cy="9144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9326880" y="13533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(Docker)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457200" y="2176272"/>
            <a:ext cx="1179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↑  ↑  ↑  ↑</a:t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2286000" y="2560320"/>
            <a:ext cx="7589520" cy="457200"/>
          </a:xfrm>
          <a:prstGeom prst="rect">
            <a:avLst/>
          </a:prstGeom>
          <a:solidFill>
            <a:srgbClr val="0A0F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2423160" y="26243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Compose  ·  docker compose up --build  ·  http://localhost:8501</a:t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457200" y="3200400"/>
            <a:ext cx="1124712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640080" y="32278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Dashboard Pages</a:t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457200" y="3584448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 txBox="1"/>
          <p:nvPr/>
        </p:nvSpPr>
        <p:spPr>
          <a:xfrm>
            <a:off x="548640" y="3675887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/>
          </a:p>
        </p:txBody>
      </p:sp>
      <p:sp>
        <p:nvSpPr>
          <p:cNvPr id="380" name="Google Shape;380;p19"/>
          <p:cNvSpPr txBox="1"/>
          <p:nvPr/>
        </p:nvSpPr>
        <p:spPr>
          <a:xfrm>
            <a:off x="1097280" y="3675887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4114800" y="3675887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 stats, graph counts, top genres by revenue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457200" y="4151376"/>
            <a:ext cx="11247120" cy="530352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548640" y="4242816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🕸️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1097280" y="424281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Collaboration Network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4114800" y="4242816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Interactive Neo4j network graph with filters</a:t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457200" y="4718304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548640" y="480974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097280" y="480974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ROI Analysis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4114800" y="4809744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 vs without actor ROI comparison charts</a:t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457200" y="5285231"/>
            <a:ext cx="11247120" cy="530352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 txBox="1"/>
          <p:nvPr/>
        </p:nvSpPr>
        <p:spPr>
          <a:xfrm>
            <a:off x="548640" y="5376671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1097280" y="5376671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Similarity Search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4114800" y="5376671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Qdrant semantic search with payload filters</a:t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457200" y="5852160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548640" y="594360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1097280" y="59436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ROI Predictor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4114800" y="5943600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Director-actor historical ROI prediction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457200" y="1188720"/>
            <a:ext cx="594360" cy="1143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457200" y="153619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1143000" y="1188720"/>
            <a:ext cx="105156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 txBox="1"/>
          <p:nvPr/>
        </p:nvSpPr>
        <p:spPr>
          <a:xfrm>
            <a:off x="1280160" y="1261872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Repeated collaborations win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1280160" y="166420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Directors and actors who work together 2+ times consistently generate higher ROI and revenue than one-off pairings.</a:t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457200" y="2514600"/>
            <a:ext cx="594360" cy="11430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457200" y="286207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1143000" y="2514600"/>
            <a:ext cx="105156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1280160" y="2587752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ROI ≠ Revenue</a:t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1280160" y="299008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Peter Jackson + Elijah Wood: 999% ROI + $972M avg revenue — the rarest and most valuable combination. Michel Hazanavicius: 22,325% ROI on low-budget films.</a:t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457200" y="3840480"/>
            <a:ext cx="59436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457200" y="418795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1143000" y="3840480"/>
            <a:ext cx="105156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1280160" y="3913632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Genre amplifies success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1280160" y="431596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Adventure + Action + Sci-Fi combinations generate $836M avg revenue and 423% avg ROI. Every top collaboration operates in this genre space.</a:t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457200" y="5166359"/>
            <a:ext cx="594360" cy="11430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 txBox="1"/>
          <p:nvPr/>
        </p:nvSpPr>
        <p:spPr>
          <a:xfrm>
            <a:off x="457200" y="5513831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1143000" y="5166359"/>
            <a:ext cx="105156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1280160" y="5239512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 beats global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1280160" y="564184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Collaboration history (how many films, shared revenue) is more predictive of high ROI than global network centrality (PageRank, community). Our 81% accurate ML model proves this.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457200" y="118872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457200" y="1188720"/>
            <a:ext cx="1280160" cy="10058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530352" y="146304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DuckDB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1874519" y="1463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cleaning + analytical SQL queries</a:t>
            </a:r>
            <a:endParaRPr/>
          </a:p>
        </p:txBody>
      </p:sp>
      <p:sp>
        <p:nvSpPr>
          <p:cNvPr id="436" name="Google Shape;436;p21"/>
          <p:cNvSpPr/>
          <p:nvPr/>
        </p:nvSpPr>
        <p:spPr>
          <a:xfrm>
            <a:off x="6309360" y="118872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6309360" y="1188720"/>
            <a:ext cx="1280160" cy="100584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6382512" y="146304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</a:t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7726680" y="1463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Graph database + collaboration network</a:t>
            </a:r>
            <a:endParaRPr/>
          </a:p>
        </p:txBody>
      </p:sp>
      <p:sp>
        <p:nvSpPr>
          <p:cNvPr id="440" name="Google Shape;440;p21"/>
          <p:cNvSpPr/>
          <p:nvPr/>
        </p:nvSpPr>
        <p:spPr>
          <a:xfrm>
            <a:off x="457200" y="242316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457200" y="2423160"/>
            <a:ext cx="128016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530352" y="269748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 GDS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1874519" y="2697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PageRank + Louvain community detection</a:t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6309360" y="242316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6309360" y="2423160"/>
            <a:ext cx="128016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6382512" y="269748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/>
          </a:p>
        </p:txBody>
      </p:sp>
      <p:sp>
        <p:nvSpPr>
          <p:cNvPr id="447" name="Google Shape;447;p21"/>
          <p:cNvSpPr txBox="1"/>
          <p:nvPr/>
        </p:nvSpPr>
        <p:spPr>
          <a:xfrm>
            <a:off x="7726680" y="2697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Forest ROI classifier (81% accuracy)</a:t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457200" y="365760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457200" y="3657600"/>
            <a:ext cx="1280160" cy="100584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530352" y="393192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sentence-transformers</a:t>
            </a:r>
            <a:endParaRPr/>
          </a:p>
        </p:txBody>
      </p:sp>
      <p:sp>
        <p:nvSpPr>
          <p:cNvPr id="451" name="Google Shape;451;p21"/>
          <p:cNvSpPr txBox="1"/>
          <p:nvPr/>
        </p:nvSpPr>
        <p:spPr>
          <a:xfrm>
            <a:off x="1874519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Movie overview embeddings (384-dim)</a:t>
            </a:r>
            <a:endParaRPr/>
          </a:p>
        </p:txBody>
      </p:sp>
      <p:sp>
        <p:nvSpPr>
          <p:cNvPr id="452" name="Google Shape;452;p21"/>
          <p:cNvSpPr/>
          <p:nvPr/>
        </p:nvSpPr>
        <p:spPr>
          <a:xfrm>
            <a:off x="6309360" y="365760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6309360" y="3657600"/>
            <a:ext cx="1280160" cy="10058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6382512" y="393192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772668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Vector database + cosine similarity search</a:t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457200" y="489204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457200" y="4892040"/>
            <a:ext cx="1280160" cy="100584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530352" y="516636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1874519" y="5166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Interactive 5-page dashboard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6309360" y="489204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6309360" y="4892040"/>
            <a:ext cx="128016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>
            <a:off x="6382512" y="516636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/>
          </a:p>
        </p:txBody>
      </p:sp>
      <p:sp>
        <p:nvSpPr>
          <p:cNvPr id="463" name="Google Shape;463;p21"/>
          <p:cNvSpPr txBox="1"/>
          <p:nvPr/>
        </p:nvSpPr>
        <p:spPr>
          <a:xfrm>
            <a:off x="7726680" y="5166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Container orchestration — one command deploy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Journey — S1 to S8</a:t>
            </a:r>
            <a:endParaRPr/>
          </a:p>
        </p:txBody>
      </p:sp>
      <p:sp>
        <p:nvSpPr>
          <p:cNvPr id="470" name="Google Shape;470;p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365760" y="1280160"/>
            <a:ext cx="1234440" cy="10972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43891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/>
          </a:p>
        </p:txBody>
      </p:sp>
      <p:sp>
        <p:nvSpPr>
          <p:cNvPr id="473" name="Google Shape;473;p22"/>
          <p:cNvSpPr txBox="1"/>
          <p:nvPr/>
        </p:nvSpPr>
        <p:spPr>
          <a:xfrm>
            <a:off x="41148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+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Q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160020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75" name="Google Shape;475;p22"/>
          <p:cNvSpPr/>
          <p:nvPr/>
        </p:nvSpPr>
        <p:spPr>
          <a:xfrm>
            <a:off x="1828800" y="1280160"/>
            <a:ext cx="1234440" cy="10972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190195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1874519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Load</a:t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306324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3291840" y="1280160"/>
            <a:ext cx="1234440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336499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/>
          </a:p>
        </p:txBody>
      </p:sp>
      <p:sp>
        <p:nvSpPr>
          <p:cNvPr id="481" name="Google Shape;481;p22"/>
          <p:cNvSpPr txBox="1"/>
          <p:nvPr/>
        </p:nvSpPr>
        <p:spPr>
          <a:xfrm>
            <a:off x="333756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  <p:sp>
        <p:nvSpPr>
          <p:cNvPr id="482" name="Google Shape;482;p22"/>
          <p:cNvSpPr txBox="1"/>
          <p:nvPr/>
        </p:nvSpPr>
        <p:spPr>
          <a:xfrm>
            <a:off x="452628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4754880" y="1280160"/>
            <a:ext cx="1234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482803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480060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Mid-term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/>
          </a:p>
        </p:txBody>
      </p:sp>
      <p:sp>
        <p:nvSpPr>
          <p:cNvPr id="486" name="Google Shape;486;p22"/>
          <p:cNvSpPr txBox="1"/>
          <p:nvPr/>
        </p:nvSpPr>
        <p:spPr>
          <a:xfrm>
            <a:off x="598932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6217920" y="1280160"/>
            <a:ext cx="1234440" cy="109728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629107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/>
          </a:p>
        </p:txBody>
      </p:sp>
      <p:sp>
        <p:nvSpPr>
          <p:cNvPr id="489" name="Google Shape;489;p22"/>
          <p:cNvSpPr txBox="1"/>
          <p:nvPr/>
        </p:nvSpPr>
        <p:spPr>
          <a:xfrm>
            <a:off x="626364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+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/>
          </a:p>
        </p:txBody>
      </p:sp>
      <p:sp>
        <p:nvSpPr>
          <p:cNvPr id="490" name="Google Shape;490;p22"/>
          <p:cNvSpPr txBox="1"/>
          <p:nvPr/>
        </p:nvSpPr>
        <p:spPr>
          <a:xfrm>
            <a:off x="745236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7680960" y="1280160"/>
            <a:ext cx="1234440" cy="10972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>
            <a:off x="775411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772668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</p:txBody>
      </p:sp>
      <p:sp>
        <p:nvSpPr>
          <p:cNvPr id="494" name="Google Shape;494;p22"/>
          <p:cNvSpPr txBox="1"/>
          <p:nvPr/>
        </p:nvSpPr>
        <p:spPr>
          <a:xfrm>
            <a:off x="891540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9144000" y="1280160"/>
            <a:ext cx="1234440" cy="10972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921715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918972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Docker</a:t>
            </a:r>
            <a:endParaRPr/>
          </a:p>
        </p:txBody>
      </p:sp>
      <p:sp>
        <p:nvSpPr>
          <p:cNvPr id="498" name="Google Shape;498;p22"/>
          <p:cNvSpPr txBox="1"/>
          <p:nvPr/>
        </p:nvSpPr>
        <p:spPr>
          <a:xfrm>
            <a:off x="10378440" y="16916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10607040" y="1280160"/>
            <a:ext cx="1234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10680192" y="13716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/>
          </a:p>
        </p:txBody>
      </p:sp>
      <p:sp>
        <p:nvSpPr>
          <p:cNvPr id="501" name="Google Shape;501;p22"/>
          <p:cNvSpPr txBox="1"/>
          <p:nvPr/>
        </p:nvSpPr>
        <p:spPr>
          <a:xfrm>
            <a:off x="10652760" y="1719072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457200" y="2606040"/>
            <a:ext cx="1124712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640080" y="263347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Deliverables</a:t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457200" y="2980944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457200" y="2980944"/>
            <a:ext cx="1280160" cy="53035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548640" y="3099815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notebooks/</a:t>
            </a:r>
            <a:endParaRPr/>
          </a:p>
        </p:txBody>
      </p:sp>
      <p:sp>
        <p:nvSpPr>
          <p:cNvPr id="507" name="Google Shape;507;p22"/>
          <p:cNvSpPr txBox="1"/>
          <p:nvPr/>
        </p:nvSpPr>
        <p:spPr>
          <a:xfrm>
            <a:off x="1828800" y="3099815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00_exploration · 01_etl · 02_graph_load · 03_graph_analytics · 04_ml · 05_embeddings</a:t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457200" y="3547872"/>
            <a:ext cx="11247120" cy="530352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457200" y="3547872"/>
            <a:ext cx="1280160" cy="530352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548640" y="366674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docs/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1828800" y="3666744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mid_term_outline.md · ml_and_similarity_design.md · final_presentation_outline.md</a:t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457200" y="4114800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457200" y="4114800"/>
            <a:ext cx="1280160" cy="530352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548640" y="42336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report/</a:t>
            </a:r>
            <a:endParaRPr/>
          </a:p>
        </p:txBody>
      </p:sp>
      <p:sp>
        <p:nvSpPr>
          <p:cNvPr id="515" name="Google Shape;515;p22"/>
          <p:cNvSpPr txBox="1"/>
          <p:nvPr/>
        </p:nvSpPr>
        <p:spPr>
          <a:xfrm>
            <a:off x="1828800" y="4233672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scale_up_reasoning.md</a:t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457200" y="4681727"/>
            <a:ext cx="11247120" cy="530352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457200" y="4681727"/>
            <a:ext cx="1280160" cy="530352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548640" y="4800599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app/</a:t>
            </a:r>
            <a:endParaRPr/>
          </a:p>
        </p:txBody>
      </p:sp>
      <p:sp>
        <p:nvSpPr>
          <p:cNvPr id="519" name="Google Shape;519;p22"/>
          <p:cNvSpPr txBox="1"/>
          <p:nvPr/>
        </p:nvSpPr>
        <p:spPr>
          <a:xfrm>
            <a:off x="1828800" y="4800599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streamlit_app.py</a:t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457200" y="5248656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457200" y="5248656"/>
            <a:ext cx="1280160" cy="53035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548640" y="53675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root/</a:t>
            </a:r>
            <a:endParaRPr/>
          </a:p>
        </p:txBody>
      </p:sp>
      <p:sp>
        <p:nvSpPr>
          <p:cNvPr id="523" name="Google Shape;523;p22"/>
          <p:cNvSpPr txBox="1"/>
          <p:nvPr/>
        </p:nvSpPr>
        <p:spPr>
          <a:xfrm>
            <a:off x="1828800" y="536752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Dockerfile · docker-compose.yml · requirements.txt · README.md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Scale-Up Reasoning</a:t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/>
          </a:p>
        </p:txBody>
      </p:sp>
      <p:sp>
        <p:nvSpPr>
          <p:cNvPr id="531" name="Google Shape;531;p23"/>
          <p:cNvSpPr/>
          <p:nvPr/>
        </p:nvSpPr>
        <p:spPr>
          <a:xfrm>
            <a:off x="365760" y="1143000"/>
            <a:ext cx="2011680" cy="1188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457200" y="12070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/>
          </a:p>
        </p:txBody>
      </p:sp>
      <p:sp>
        <p:nvSpPr>
          <p:cNvPr id="533" name="Google Shape;533;p23"/>
          <p:cNvSpPr txBox="1"/>
          <p:nvPr/>
        </p:nvSpPr>
        <p:spPr>
          <a:xfrm>
            <a:off x="457200" y="1600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3,146 clean movies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1M raw rows</a:t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2697479" y="1143000"/>
            <a:ext cx="2011680" cy="118872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 txBox="1"/>
          <p:nvPr/>
        </p:nvSpPr>
        <p:spPr>
          <a:xfrm>
            <a:off x="2788920" y="12070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Velocity</a:t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2788920" y="1600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dataset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updated annually</a:t>
            </a: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5029200" y="1143000"/>
            <a:ext cx="201168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5120640" y="12070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Variety</a:t>
            </a: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120640" y="1600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+ Unstructured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fields</a:t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7360919" y="1143000"/>
            <a:ext cx="2011680" cy="118872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7452359" y="12070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Veracity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7452359" y="1600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IMDb + TMDb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cleaned + validated</a:t>
            </a:r>
            <a:endParaRPr/>
          </a:p>
        </p:txBody>
      </p:sp>
      <p:sp>
        <p:nvSpPr>
          <p:cNvPr id="543" name="Google Shape;543;p23"/>
          <p:cNvSpPr/>
          <p:nvPr/>
        </p:nvSpPr>
        <p:spPr>
          <a:xfrm>
            <a:off x="9692640" y="1143000"/>
            <a:ext cx="2011680" cy="118872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9784080" y="12070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/>
          </a:p>
        </p:txBody>
      </p:sp>
      <p:sp>
        <p:nvSpPr>
          <p:cNvPr id="545" name="Google Shape;545;p23"/>
          <p:cNvSpPr txBox="1"/>
          <p:nvPr/>
        </p:nvSpPr>
        <p:spPr>
          <a:xfrm>
            <a:off x="9784080" y="1600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Answers casting decisions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studios</a:t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640080" y="254203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Scale-Up Path</a:t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457200" y="2907792"/>
            <a:ext cx="228600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 txBox="1"/>
          <p:nvPr/>
        </p:nvSpPr>
        <p:spPr>
          <a:xfrm>
            <a:off x="548640" y="293522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2834640" y="2907792"/>
            <a:ext cx="256032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 txBox="1"/>
          <p:nvPr/>
        </p:nvSpPr>
        <p:spPr>
          <a:xfrm>
            <a:off x="2926080" y="2935224"/>
            <a:ext cx="24688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(3K movies)</a:t>
            </a: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5440680" y="2907792"/>
            <a:ext cx="274320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>
            <a:off x="5532120" y="293522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10x Scale</a:t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8229600" y="2907792"/>
            <a:ext cx="347472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8321040" y="2935224"/>
            <a:ext cx="33832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100x Scale</a:t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457200" y="3255264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548640" y="33284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DuckDB</a:t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2834640" y="3255264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2926080" y="3328416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Local CSV</a:t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5440680" y="3255264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5532120" y="33284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DuckDB + S3 Parquet</a:t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8229600" y="3255264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8321040" y="3328416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457200" y="3694176"/>
            <a:ext cx="228600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548640" y="37673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Neo4j</a:t>
            </a:r>
            <a:endParaRPr/>
          </a:p>
        </p:txBody>
      </p:sp>
      <p:sp>
        <p:nvSpPr>
          <p:cNvPr id="566" name="Google Shape;566;p23"/>
          <p:cNvSpPr/>
          <p:nvPr/>
        </p:nvSpPr>
        <p:spPr>
          <a:xfrm>
            <a:off x="2834640" y="3694176"/>
            <a:ext cx="256032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2926080" y="3767328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Desktop</a:t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5440680" y="3694176"/>
            <a:ext cx="274320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5532120" y="376732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Neo4j AuraDB (Cloud)</a:t>
            </a:r>
            <a:endParaRPr/>
          </a:p>
        </p:txBody>
      </p:sp>
      <p:sp>
        <p:nvSpPr>
          <p:cNvPr id="570" name="Google Shape;570;p23"/>
          <p:cNvSpPr/>
          <p:nvPr/>
        </p:nvSpPr>
        <p:spPr>
          <a:xfrm>
            <a:off x="8229600" y="3694176"/>
            <a:ext cx="347472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8321040" y="3767328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Neo4j Enterprise</a:t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457200" y="4133087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 txBox="1"/>
          <p:nvPr/>
        </p:nvSpPr>
        <p:spPr>
          <a:xfrm>
            <a:off x="548640" y="42062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2834640" y="4133087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 txBox="1"/>
          <p:nvPr/>
        </p:nvSpPr>
        <p:spPr>
          <a:xfrm>
            <a:off x="2926080" y="4206240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Manual Jupyter</a:t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5440680" y="4133087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 txBox="1"/>
          <p:nvPr/>
        </p:nvSpPr>
        <p:spPr>
          <a:xfrm>
            <a:off x="5532120" y="4206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8229600" y="4133087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8321040" y="4206240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Airflow + Kubernetes</a:t>
            </a:r>
            <a:endParaRPr/>
          </a:p>
        </p:txBody>
      </p:sp>
      <p:sp>
        <p:nvSpPr>
          <p:cNvPr id="580" name="Google Shape;580;p23"/>
          <p:cNvSpPr/>
          <p:nvPr/>
        </p:nvSpPr>
        <p:spPr>
          <a:xfrm>
            <a:off x="457200" y="4572000"/>
            <a:ext cx="228600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 txBox="1"/>
          <p:nvPr/>
        </p:nvSpPr>
        <p:spPr>
          <a:xfrm>
            <a:off x="548640" y="46451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2834640" y="4572000"/>
            <a:ext cx="256032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 txBox="1"/>
          <p:nvPr/>
        </p:nvSpPr>
        <p:spPr>
          <a:xfrm>
            <a:off x="2926080" y="4645152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Local Qdrant</a:t>
            </a: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5440680" y="4572000"/>
            <a:ext cx="274320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 txBox="1"/>
          <p:nvPr/>
        </p:nvSpPr>
        <p:spPr>
          <a:xfrm>
            <a:off x="5532120" y="464515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Qdrant Cloud</a:t>
            </a:r>
            <a:endParaRPr/>
          </a:p>
        </p:txBody>
      </p:sp>
      <p:sp>
        <p:nvSpPr>
          <p:cNvPr id="586" name="Google Shape;586;p23"/>
          <p:cNvSpPr/>
          <p:nvPr/>
        </p:nvSpPr>
        <p:spPr>
          <a:xfrm>
            <a:off x="8229600" y="4572000"/>
            <a:ext cx="3474720" cy="411480"/>
          </a:xfrm>
          <a:prstGeom prst="rect">
            <a:avLst/>
          </a:prstGeom>
          <a:solidFill>
            <a:srgbClr val="F2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 txBox="1"/>
          <p:nvPr/>
        </p:nvSpPr>
        <p:spPr>
          <a:xfrm>
            <a:off x="8321040" y="4645152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Qdrant Cluster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2E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 txBox="1"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/>
          </a:p>
        </p:txBody>
      </p:sp>
      <p:sp>
        <p:nvSpPr>
          <p:cNvPr id="596" name="Google Shape;596;p24"/>
          <p:cNvSpPr txBox="1"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Repeated director–actor collaborations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consistently outperform one-off pairings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both ROI and revenue.</a:t>
            </a:r>
            <a:endParaRPr/>
          </a:p>
        </p:txBody>
      </p:sp>
      <p:sp>
        <p:nvSpPr>
          <p:cNvPr id="597" name="Google Shape;597;p24"/>
          <p:cNvSpPr txBox="1"/>
          <p:nvPr/>
        </p:nvSpPr>
        <p:spPr>
          <a:xfrm>
            <a:off x="457200" y="34290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Production companies can use our pipeline to make evidence-based</a:t>
            </a:r>
            <a:b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casting decisions — before spending $100M–$300M on a new film.</a:t>
            </a:r>
            <a:endParaRPr/>
          </a:p>
        </p:txBody>
      </p:sp>
      <p:sp>
        <p:nvSpPr>
          <p:cNvPr id="598" name="Google Shape;598;p24"/>
          <p:cNvSpPr txBox="1"/>
          <p:nvPr/>
        </p:nvSpPr>
        <p:spPr>
          <a:xfrm>
            <a:off x="457200" y="50749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TECHTATORS  ·  BD &amp; BI Capstone  ·  SRH University</a:t>
            </a:r>
            <a:endParaRPr/>
          </a:p>
        </p:txBody>
      </p:sp>
      <p:sp>
        <p:nvSpPr>
          <p:cNvPr id="599" name="Google Shape;599;p24"/>
          <p:cNvSpPr txBox="1"/>
          <p:nvPr/>
        </p:nvSpPr>
        <p:spPr>
          <a:xfrm>
            <a:off x="457200" y="546811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Manohar  ·  Rauf  ·  Maziyar  ·  Manaf  ·  Aakash</a:t>
            </a:r>
            <a:endParaRPr/>
          </a:p>
        </p:txBody>
      </p:sp>
      <p:sp>
        <p:nvSpPr>
          <p:cNvPr id="600" name="Google Shape;600;p24"/>
          <p:cNvSpPr txBox="1"/>
          <p:nvPr/>
        </p:nvSpPr>
        <p:spPr>
          <a:xfrm>
            <a:off x="457200" y="5833872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https://github.com/khudiyevrauf/Techtators-Big-Data-and-Business-Intelligence</a:t>
            </a:r>
            <a:endParaRPr i="1"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